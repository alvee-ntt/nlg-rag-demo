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Design/FlexLife Conversational Agent.md; backend/app/orchestrator.py; backend/app/models.py; backend/app/instructions.py. This slide compares the supplied design and implemented control flow with a basic document-chat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Design/FlexLife Conversational Agent.md, sections 5–16 and 35; backend/app/orchestrator.py; backend/app/instructions.py. Provider and deployment names were intentionally removed for a stakeholder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Design/FlexLife Conversational Agent.md; README.md; backend/app/orchestrator.py; backend/app/models.py; backend/app/service.py. No financial return or quantified risk-reduction claims are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1F126AE-9E25-44C4-94C6-1CA6E585203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What the implementation adds beyond document chat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67BF1-50E7-41FD-84EC-0C4DAA6EE91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F22F7-35B9-4F4B-B8CC-1868D6459C9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972800" cy="28575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0955C9-006D-49CF-8A31-0F9469E44506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Uploading documents gives a model access to content. A product-grade assistant also controls how the model reasons, when specialists participate and what happens when evidence is insufficient.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41B83-0902-4676-874B-41054A3AE394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3048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OUT-OF-THE-BOX DOCUMENT CHAT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E80AC2-C51E-46D3-B49E-9A55EC198582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ECEFF3"/>
          </a:solidFill>
          <a:ln w="9525">
            <a:solidFill>
              <a:srgbClr val="ECEF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98DAC2-A6AA-4BC1-998A-CDD6DAD88BAB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3B50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21A0F4-61DF-44BB-B4AE-847D6A854E78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1485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58B81C-0798-425F-AD1B-D6978ABA9215}"/>
              </a:ext>
            </a:extLst>
          </p:cNvPr>
          <p:cNvSpPr>
            <a:spLocks noGrp="1"/>
          </p:cNvSpPr>
          <p:nvPr/>
        </p:nvSpPr>
        <p:spPr>
          <a:xfrm>
            <a:off x="2381250" y="2733675"/>
            <a:ext cx="419100" cy="38100"/>
          </a:xfrm>
          <a:prstGeom prst="rect">
            <a:avLst/>
          </a:prstGeom>
          <a:solidFill>
            <a:srgbClr val="C7D2DE"/>
          </a:solidFill>
          <a:ln w="9525">
            <a:solidFill>
              <a:srgbClr val="C7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1E7E21-174D-4622-98CF-707BDD77C4E7}"/>
              </a:ext>
            </a:extLst>
          </p:cNvPr>
          <p:cNvSpPr>
            <a:spLocks noGrp="1"/>
          </p:cNvSpPr>
          <p:nvPr/>
        </p:nvSpPr>
        <p:spPr>
          <a:xfrm>
            <a:off x="2800350" y="23431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ECEFF3"/>
          </a:solidFill>
          <a:ln w="9525">
            <a:solidFill>
              <a:srgbClr val="ECEF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E1A5C-4B23-4970-848E-77841A45B4C5}"/>
              </a:ext>
            </a:extLst>
          </p:cNvPr>
          <p:cNvSpPr>
            <a:spLocks noGrp="1"/>
          </p:cNvSpPr>
          <p:nvPr/>
        </p:nvSpPr>
        <p:spPr>
          <a:xfrm>
            <a:off x="2914650" y="24098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3B50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FDB3AD-7263-4ADC-AEF5-7C7005F039A6}"/>
              </a:ext>
            </a:extLst>
          </p:cNvPr>
          <p:cNvSpPr>
            <a:spLocks noGrp="1"/>
          </p:cNvSpPr>
          <p:nvPr/>
        </p:nvSpPr>
        <p:spPr>
          <a:xfrm>
            <a:off x="2914650" y="2686050"/>
            <a:ext cx="1485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One prompt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38E318-FA52-40E2-9477-13B63B89A4E2}"/>
              </a:ext>
            </a:extLst>
          </p:cNvPr>
          <p:cNvSpPr>
            <a:spLocks noGrp="1"/>
          </p:cNvSpPr>
          <p:nvPr/>
        </p:nvSpPr>
        <p:spPr>
          <a:xfrm>
            <a:off x="4514850" y="2733675"/>
            <a:ext cx="419100" cy="38100"/>
          </a:xfrm>
          <a:prstGeom prst="rect">
            <a:avLst/>
          </a:prstGeom>
          <a:solidFill>
            <a:srgbClr val="C7D2DE"/>
          </a:solidFill>
          <a:ln w="9525">
            <a:solidFill>
              <a:srgbClr val="C7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6C5FFC-26FC-4B83-B6A0-6CB2371D55DE}"/>
              </a:ext>
            </a:extLst>
          </p:cNvPr>
          <p:cNvSpPr>
            <a:spLocks noGrp="1"/>
          </p:cNvSpPr>
          <p:nvPr/>
        </p:nvSpPr>
        <p:spPr>
          <a:xfrm>
            <a:off x="4933950" y="23431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ECEFF3"/>
          </a:solidFill>
          <a:ln w="9525">
            <a:solidFill>
              <a:srgbClr val="ECEF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3D79CA-1764-4FA9-A4DC-8F98A680DAD9}"/>
              </a:ext>
            </a:extLst>
          </p:cNvPr>
          <p:cNvSpPr>
            <a:spLocks noGrp="1"/>
          </p:cNvSpPr>
          <p:nvPr/>
        </p:nvSpPr>
        <p:spPr>
          <a:xfrm>
            <a:off x="5048250" y="24098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3B50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EC6F5F-7F59-4AC9-95AC-C8FA6A7DB66C}"/>
              </a:ext>
            </a:extLst>
          </p:cNvPr>
          <p:cNvSpPr>
            <a:spLocks noGrp="1"/>
          </p:cNvSpPr>
          <p:nvPr/>
        </p:nvSpPr>
        <p:spPr>
          <a:xfrm>
            <a:off x="5048250" y="2686050"/>
            <a:ext cx="1485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One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A622CF-E905-4B70-A837-4B21F38156D7}"/>
              </a:ext>
            </a:extLst>
          </p:cNvPr>
          <p:cNvSpPr>
            <a:spLocks noGrp="1"/>
          </p:cNvSpPr>
          <p:nvPr/>
        </p:nvSpPr>
        <p:spPr>
          <a:xfrm>
            <a:off x="7067550" y="2381250"/>
            <a:ext cx="4095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B8445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4450"/>
                </a:solidFill>
                <a:latin typeface="Aptos"/>
                <a:ea typeface="Aptos"/>
                <a:cs typeface="Aptos"/>
              </a:rPr>
              <a:t>Limited control over evidence, sensitive wording and next steps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53AD92-462A-42D3-91D0-13D51B6660D9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10477500" cy="19050"/>
          </a:xfrm>
          <a:prstGeom prst="rect">
            <a:avLst/>
          </a:prstGeom>
          <a:solidFill>
            <a:srgbClr val="C7D2DE"/>
          </a:solidFill>
          <a:ln w="9525">
            <a:solidFill>
              <a:srgbClr val="C7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BC71C-4439-4DB3-8682-E76E794A3A37}"/>
              </a:ext>
            </a:extLst>
          </p:cNvPr>
          <p:cNvSpPr>
            <a:spLocks noGrp="1"/>
          </p:cNvSpPr>
          <p:nvPr/>
        </p:nvSpPr>
        <p:spPr>
          <a:xfrm>
            <a:off x="666750" y="3781425"/>
            <a:ext cx="3048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1">
                <a:solidFill>
                  <a:srgbClr val="6B55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55C5"/>
                </a:solidFill>
                <a:latin typeface="Aptos"/>
                <a:ea typeface="Aptos"/>
                <a:cs typeface="Aptos"/>
              </a:rPr>
              <a:t>CONTROLLED AI PRODUCT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003CA2-0C14-47DB-A287-A1AE9DD05CCB}"/>
              </a:ext>
            </a:extLst>
          </p:cNvPr>
          <p:cNvSpPr>
            <a:spLocks noGrp="1"/>
          </p:cNvSpPr>
          <p:nvPr/>
        </p:nvSpPr>
        <p:spPr>
          <a:xfrm>
            <a:off x="666750" y="4200525"/>
            <a:ext cx="1762125" cy="895350"/>
          </a:xfrm>
          <a:prstGeom prst="roundRect">
            <a:avLst>
              <a:gd name="adj" fmla="val 8511"/>
            </a:avLst>
          </a:prstGeom>
          <a:solidFill>
            <a:srgbClr val="EEEAFB"/>
          </a:solidFill>
          <a:ln w="9525">
            <a:solidFill>
              <a:srgbClr val="EEE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125DD0-77CE-4980-A4C7-7765684144C2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15335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4A82BD-6BF2-4866-A389-A97A3FE0EFE3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533525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Intent and risk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51C077-5FD9-4BB5-8BD1-A36C6D77ABD5}"/>
              </a:ext>
            </a:extLst>
          </p:cNvPr>
          <p:cNvSpPr>
            <a:spLocks noGrp="1"/>
          </p:cNvSpPr>
          <p:nvPr/>
        </p:nvSpPr>
        <p:spPr>
          <a:xfrm>
            <a:off x="2428875" y="4629150"/>
            <a:ext cx="333375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E5A9947-B28A-48D9-9053-FFBDAD6E39E4}"/>
              </a:ext>
            </a:extLst>
          </p:cNvPr>
          <p:cNvSpPr>
            <a:spLocks noGrp="1"/>
          </p:cNvSpPr>
          <p:nvPr/>
        </p:nvSpPr>
        <p:spPr>
          <a:xfrm>
            <a:off x="2762250" y="4200525"/>
            <a:ext cx="1762125" cy="895350"/>
          </a:xfrm>
          <a:prstGeom prst="roundRect">
            <a:avLst>
              <a:gd name="adj" fmla="val 8511"/>
            </a:avLst>
          </a:prstGeom>
          <a:solidFill>
            <a:srgbClr val="E8F2FF"/>
          </a:solidFill>
          <a:ln w="9525">
            <a:solidFill>
              <a:srgbClr val="E8F2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693515-A3DD-487E-89CB-46728A0D82E0}"/>
              </a:ext>
            </a:extLst>
          </p:cNvPr>
          <p:cNvSpPr>
            <a:spLocks noGrp="1"/>
          </p:cNvSpPr>
          <p:nvPr/>
        </p:nvSpPr>
        <p:spPr>
          <a:xfrm>
            <a:off x="2876550" y="4267200"/>
            <a:ext cx="15335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5610F6-BDE5-478B-9476-0529F78ECEC9}"/>
              </a:ext>
            </a:extLst>
          </p:cNvPr>
          <p:cNvSpPr>
            <a:spLocks noGrp="1"/>
          </p:cNvSpPr>
          <p:nvPr/>
        </p:nvSpPr>
        <p:spPr>
          <a:xfrm>
            <a:off x="2876550" y="4543425"/>
            <a:ext cx="1533525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Right specialist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C367A6-28E3-4C33-98B7-CAFD96F80A6F}"/>
              </a:ext>
            </a:extLst>
          </p:cNvPr>
          <p:cNvSpPr>
            <a:spLocks noGrp="1"/>
          </p:cNvSpPr>
          <p:nvPr/>
        </p:nvSpPr>
        <p:spPr>
          <a:xfrm>
            <a:off x="4524375" y="4629150"/>
            <a:ext cx="333375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5A4B15B-2158-44A8-BB1A-56D8CDCFA29F}"/>
              </a:ext>
            </a:extLst>
          </p:cNvPr>
          <p:cNvSpPr>
            <a:spLocks noGrp="1"/>
          </p:cNvSpPr>
          <p:nvPr/>
        </p:nvSpPr>
        <p:spPr>
          <a:xfrm>
            <a:off x="4857750" y="4200525"/>
            <a:ext cx="1762125" cy="895350"/>
          </a:xfrm>
          <a:prstGeom prst="roundRect">
            <a:avLst>
              <a:gd name="adj" fmla="val 8511"/>
            </a:avLst>
          </a:prstGeom>
          <a:solidFill>
            <a:srgbClr val="E3F5F2"/>
          </a:solidFill>
          <a:ln w="9525">
            <a:solidFill>
              <a:srgbClr val="E3F5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5D3014-9A95-4A19-AB67-7C3F7A96B0AB}"/>
              </a:ext>
            </a:extLst>
          </p:cNvPr>
          <p:cNvSpPr>
            <a:spLocks noGrp="1"/>
          </p:cNvSpPr>
          <p:nvPr/>
        </p:nvSpPr>
        <p:spPr>
          <a:xfrm>
            <a:off x="4972050" y="4267200"/>
            <a:ext cx="15335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GROUND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C97CB2-4277-41DE-A60C-3B835A834EDF}"/>
              </a:ext>
            </a:extLst>
          </p:cNvPr>
          <p:cNvSpPr>
            <a:spLocks noGrp="1"/>
          </p:cNvSpPr>
          <p:nvPr/>
        </p:nvSpPr>
        <p:spPr>
          <a:xfrm>
            <a:off x="4972050" y="4543425"/>
            <a:ext cx="1533525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Authoritative evidence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8B18F6-C6E7-425D-B6D3-ED73B483C4BF}"/>
              </a:ext>
            </a:extLst>
          </p:cNvPr>
          <p:cNvSpPr>
            <a:spLocks noGrp="1"/>
          </p:cNvSpPr>
          <p:nvPr/>
        </p:nvSpPr>
        <p:spPr>
          <a:xfrm>
            <a:off x="6619875" y="4629150"/>
            <a:ext cx="333375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42257AD-4E0A-44B2-BD66-481013ED22F4}"/>
              </a:ext>
            </a:extLst>
          </p:cNvPr>
          <p:cNvSpPr>
            <a:spLocks noGrp="1"/>
          </p:cNvSpPr>
          <p:nvPr/>
        </p:nvSpPr>
        <p:spPr>
          <a:xfrm>
            <a:off x="6953250" y="4200525"/>
            <a:ext cx="1762125" cy="895350"/>
          </a:xfrm>
          <a:prstGeom prst="roundRect">
            <a:avLst>
              <a:gd name="adj" fmla="val 8511"/>
            </a:avLst>
          </a:prstGeom>
          <a:solidFill>
            <a:srgbClr val="FFF3DF"/>
          </a:solidFill>
          <a:ln w="9525">
            <a:solidFill>
              <a:srgbClr val="FFF3D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467497-7EFB-4765-BEBA-45DA1DE5C13C}"/>
              </a:ext>
            </a:extLst>
          </p:cNvPr>
          <p:cNvSpPr>
            <a:spLocks noGrp="1"/>
          </p:cNvSpPr>
          <p:nvPr/>
        </p:nvSpPr>
        <p:spPr>
          <a:xfrm>
            <a:off x="7067550" y="4267200"/>
            <a:ext cx="15335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F51D00-9045-4E0F-8D78-53983A68AD5B}"/>
              </a:ext>
            </a:extLst>
          </p:cNvPr>
          <p:cNvSpPr>
            <a:spLocks noGrp="1"/>
          </p:cNvSpPr>
          <p:nvPr/>
        </p:nvSpPr>
        <p:spPr>
          <a:xfrm>
            <a:off x="7067550" y="4543425"/>
            <a:ext cx="1533525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Policy and language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27DE07-F98C-4397-9CEA-9E2A43856D80}"/>
              </a:ext>
            </a:extLst>
          </p:cNvPr>
          <p:cNvSpPr>
            <a:spLocks noGrp="1"/>
          </p:cNvSpPr>
          <p:nvPr/>
        </p:nvSpPr>
        <p:spPr>
          <a:xfrm>
            <a:off x="8715375" y="4629150"/>
            <a:ext cx="333375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D63EBBD-6FFF-4DEC-B0B7-7371171A520D}"/>
              </a:ext>
            </a:extLst>
          </p:cNvPr>
          <p:cNvSpPr>
            <a:spLocks noGrp="1"/>
          </p:cNvSpPr>
          <p:nvPr/>
        </p:nvSpPr>
        <p:spPr>
          <a:xfrm>
            <a:off x="9048750" y="4200525"/>
            <a:ext cx="1762125" cy="895350"/>
          </a:xfrm>
          <a:prstGeom prst="roundRect">
            <a:avLst>
              <a:gd name="adj" fmla="val 8511"/>
            </a:avLst>
          </a:prstGeom>
          <a:solidFill>
            <a:srgbClr val="E7F5EE"/>
          </a:solidFill>
          <a:ln w="9525">
            <a:solidFill>
              <a:srgbClr val="E7F5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383729-6D7B-4EB9-A77D-167A58DE5D47}"/>
              </a:ext>
            </a:extLst>
          </p:cNvPr>
          <p:cNvSpPr>
            <a:spLocks noGrp="1"/>
          </p:cNvSpPr>
          <p:nvPr/>
        </p:nvSpPr>
        <p:spPr>
          <a:xfrm>
            <a:off x="9163050" y="4267200"/>
            <a:ext cx="15335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300A7E-38DD-4338-9459-98A54BC9B480}"/>
              </a:ext>
            </a:extLst>
          </p:cNvPr>
          <p:cNvSpPr>
            <a:spLocks noGrp="1"/>
          </p:cNvSpPr>
          <p:nvPr/>
        </p:nvSpPr>
        <p:spPr>
          <a:xfrm>
            <a:off x="9163050" y="4543425"/>
            <a:ext cx="1533525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Structured next step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36EAB31-A20C-4896-A95E-91B95B130DF2}"/>
              </a:ext>
            </a:extLst>
          </p:cNvPr>
          <p:cNvSpPr>
            <a:spLocks noGrp="1"/>
          </p:cNvSpPr>
          <p:nvPr/>
        </p:nvSpPr>
        <p:spPr>
          <a:xfrm>
            <a:off x="666750" y="5543550"/>
            <a:ext cx="10477500" cy="685800"/>
          </a:xfrm>
          <a:prstGeom prst="roundRect">
            <a:avLst>
              <a:gd name="adj" fmla="val 11111"/>
            </a:avLst>
          </a:prstGeom>
          <a:solidFill>
            <a:srgbClr val="142B45"/>
          </a:solidFill>
          <a:ln w="9525">
            <a:solidFill>
              <a:srgbClr val="142B4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C88103-6998-4454-ACB9-7ECE798C4E84}"/>
              </a:ext>
            </a:extLst>
          </p:cNvPr>
          <p:cNvSpPr>
            <a:spLocks noGrp="1"/>
          </p:cNvSpPr>
          <p:nvPr/>
        </p:nvSpPr>
        <p:spPr>
          <a:xfrm>
            <a:off x="876300" y="5705475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E3F5F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3F5F2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3B2D5-5BE7-4204-8678-2DC6301AB741}"/>
              </a:ext>
            </a:extLst>
          </p:cNvPr>
          <p:cNvSpPr>
            <a:spLocks noGrp="1"/>
          </p:cNvSpPr>
          <p:nvPr/>
        </p:nvSpPr>
        <p:spPr>
          <a:xfrm>
            <a:off x="1809750" y="5629275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89" lnSpcReduction="20000"/>
          </a:bodyPr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consistent product experience that can answer, gather information, warn, escalate and guide the next action.</a:t>
            </a:r>
          </a:p>
        </p:txBody>
      </p:sp>
    </p:spTree>
    <p:extLst>
      <p:ext uri="{BB962C8B-B14F-4D97-AF65-F5344CB8AC3E}">
        <p14:creationId xmlns:p14="http://schemas.microsoft.com/office/powerpoint/2010/main" val="493222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49B9EC9-9447-48A1-B39C-340F1D8A260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AI operating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5B957-BAED-4870-86AF-95BCE780F760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5F3BE-1507-411B-B8C4-91DB5AAF954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972800" cy="28575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BDAAB1-1F1E-41DA-B410-08E7D3B6AB93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500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263B50"/>
                </a:solidFill>
                <a:latin typeface="Aptos"/>
                <a:ea typeface="Aptos"/>
                <a:cs typeface="Aptos"/>
              </a:rPr>
              <a:t>One orchestrator manages intent, context and risk. It brings in specialist capabilities only when their expertise or controls add value.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C62150-7A08-4E71-BCDD-C16C1EEA6FEE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1952625" cy="1066800"/>
          </a:xfrm>
          <a:prstGeom prst="roundRect">
            <a:avLst>
              <a:gd name="adj" fmla="val 7143"/>
            </a:avLst>
          </a:prstGeom>
          <a:solidFill>
            <a:srgbClr val="142B45"/>
          </a:solidFill>
          <a:ln w="9525">
            <a:solidFill>
              <a:srgbClr val="142B4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B1F9B-C204-4983-8D52-DC41BC7575CF}"/>
              </a:ext>
            </a:extLst>
          </p:cNvPr>
          <p:cNvSpPr>
            <a:spLocks noGrp="1"/>
          </p:cNvSpPr>
          <p:nvPr/>
        </p:nvSpPr>
        <p:spPr>
          <a:xfrm>
            <a:off x="781050" y="2733675"/>
            <a:ext cx="17240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NEED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07AE0-4D0C-49C1-A335-4F9E7103DFE5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724025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Question, context and desired outcome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11D9C-9122-4BE6-994E-8B2E93DFC168}"/>
              </a:ext>
            </a:extLst>
          </p:cNvPr>
          <p:cNvSpPr>
            <a:spLocks noGrp="1"/>
          </p:cNvSpPr>
          <p:nvPr/>
        </p:nvSpPr>
        <p:spPr>
          <a:xfrm>
            <a:off x="2619375" y="3181350"/>
            <a:ext cx="552450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AE10DA-182F-44DB-8A33-1901D93915B4}"/>
              </a:ext>
            </a:extLst>
          </p:cNvPr>
          <p:cNvSpPr>
            <a:spLocks noGrp="1"/>
          </p:cNvSpPr>
          <p:nvPr/>
        </p:nvSpPr>
        <p:spPr>
          <a:xfrm>
            <a:off x="3171825" y="2333625"/>
            <a:ext cx="2381250" cy="1733550"/>
          </a:xfrm>
          <a:prstGeom prst="roundRect">
            <a:avLst>
              <a:gd name="adj" fmla="val 4396"/>
            </a:avLst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95A193-EA79-4445-9E2B-F464B78BF660}"/>
              </a:ext>
            </a:extLst>
          </p:cNvPr>
          <p:cNvSpPr>
            <a:spLocks noGrp="1"/>
          </p:cNvSpPr>
          <p:nvPr/>
        </p:nvSpPr>
        <p:spPr>
          <a:xfrm>
            <a:off x="3286125" y="2400300"/>
            <a:ext cx="2152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913" lnSpcReduction="20000"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E9F76-4A9D-4E9B-8D4F-6EC31EDECEB1}"/>
              </a:ext>
            </a:extLst>
          </p:cNvPr>
          <p:cNvSpPr>
            <a:spLocks noGrp="1"/>
          </p:cNvSpPr>
          <p:nvPr/>
        </p:nvSpPr>
        <p:spPr>
          <a:xfrm>
            <a:off x="3286125" y="2676525"/>
            <a:ext cx="2152650" cy="1323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Understands intent</a:t>
            </a:r>
          </a:p>
          <a:p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Selects the path</a:t>
            </a:r>
          </a:p>
          <a:p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Maintains continuity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644643-026F-4586-9CF2-A2B094747445}"/>
              </a:ext>
            </a:extLst>
          </p:cNvPr>
          <p:cNvSpPr>
            <a:spLocks noGrp="1"/>
          </p:cNvSpPr>
          <p:nvPr/>
        </p:nvSpPr>
        <p:spPr>
          <a:xfrm>
            <a:off x="5553075" y="3181350"/>
            <a:ext cx="419100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CC2058-52D3-460A-86A2-6497778E159B}"/>
              </a:ext>
            </a:extLst>
          </p:cNvPr>
          <p:cNvSpPr>
            <a:spLocks noGrp="1"/>
          </p:cNvSpPr>
          <p:nvPr/>
        </p:nvSpPr>
        <p:spPr>
          <a:xfrm>
            <a:off x="5953124" y="2235063"/>
            <a:ext cx="45719" cy="19812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50713C-4C96-4AA3-9E8E-9AFB4E522B8C}"/>
              </a:ext>
            </a:extLst>
          </p:cNvPr>
          <p:cNvSpPr>
            <a:spLocks noGrp="1"/>
          </p:cNvSpPr>
          <p:nvPr/>
        </p:nvSpPr>
        <p:spPr>
          <a:xfrm>
            <a:off x="5953125" y="2196963"/>
            <a:ext cx="323850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EAA6FC-0696-4734-AB83-46B1F9F13C1A}"/>
              </a:ext>
            </a:extLst>
          </p:cNvPr>
          <p:cNvSpPr>
            <a:spLocks noGrp="1"/>
          </p:cNvSpPr>
          <p:nvPr/>
        </p:nvSpPr>
        <p:spPr>
          <a:xfrm>
            <a:off x="6276975" y="1787388"/>
            <a:ext cx="2714625" cy="819150"/>
          </a:xfrm>
          <a:prstGeom prst="roundRect">
            <a:avLst>
              <a:gd name="adj" fmla="val 9302"/>
            </a:avLst>
          </a:prstGeom>
          <a:solidFill>
            <a:srgbClr val="E8F2FF"/>
          </a:solidFill>
          <a:ln w="9525">
            <a:solidFill>
              <a:srgbClr val="E8F2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E94B3-1AED-40CA-8D34-DA18D3631A99}"/>
              </a:ext>
            </a:extLst>
          </p:cNvPr>
          <p:cNvSpPr>
            <a:spLocks noGrp="1"/>
          </p:cNvSpPr>
          <p:nvPr/>
        </p:nvSpPr>
        <p:spPr>
          <a:xfrm>
            <a:off x="6391275" y="1854063"/>
            <a:ext cx="24860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PRODUCT KNOWLEDGE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DADFA-ACD6-4869-8A65-7CEEE319B9C7}"/>
              </a:ext>
            </a:extLst>
          </p:cNvPr>
          <p:cNvSpPr>
            <a:spLocks noGrp="1"/>
          </p:cNvSpPr>
          <p:nvPr/>
        </p:nvSpPr>
        <p:spPr>
          <a:xfrm>
            <a:off x="6391275" y="2130288"/>
            <a:ext cx="2486025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Grounded answers and citations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0EC072-D148-4217-8DDC-C182A15FD5AE}"/>
              </a:ext>
            </a:extLst>
          </p:cNvPr>
          <p:cNvSpPr>
            <a:spLocks noGrp="1"/>
          </p:cNvSpPr>
          <p:nvPr/>
        </p:nvSpPr>
        <p:spPr>
          <a:xfrm>
            <a:off x="5953125" y="3187563"/>
            <a:ext cx="323850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970746-3DDB-4DF1-B475-F5158694FC2F}"/>
              </a:ext>
            </a:extLst>
          </p:cNvPr>
          <p:cNvSpPr>
            <a:spLocks noGrp="1"/>
          </p:cNvSpPr>
          <p:nvPr/>
        </p:nvSpPr>
        <p:spPr>
          <a:xfrm>
            <a:off x="6276975" y="2777988"/>
            <a:ext cx="2714625" cy="819150"/>
          </a:xfrm>
          <a:prstGeom prst="roundRect">
            <a:avLst>
              <a:gd name="adj" fmla="val 9302"/>
            </a:avLst>
          </a:prstGeom>
          <a:solidFill>
            <a:srgbClr val="FFF3DF"/>
          </a:solidFill>
          <a:ln w="9525">
            <a:solidFill>
              <a:srgbClr val="FFF3D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FE6852-B82C-455C-81D6-6380B8D064E4}"/>
              </a:ext>
            </a:extLst>
          </p:cNvPr>
          <p:cNvSpPr>
            <a:spLocks noGrp="1"/>
          </p:cNvSpPr>
          <p:nvPr/>
        </p:nvSpPr>
        <p:spPr>
          <a:xfrm>
            <a:off x="6391275" y="2844663"/>
            <a:ext cx="24860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UNDERWRITING GUIDANCE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31AA36-0A50-4898-A47B-4AF2181BEB0C}"/>
              </a:ext>
            </a:extLst>
          </p:cNvPr>
          <p:cNvSpPr>
            <a:spLocks noGrp="1"/>
          </p:cNvSpPr>
          <p:nvPr/>
        </p:nvSpPr>
        <p:spPr>
          <a:xfrm>
            <a:off x="6391275" y="3120888"/>
            <a:ext cx="2486025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ctr">
              <a:defRPr sz="1050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Relevant facts without outcome prediction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73A06-8817-4898-ABB9-7A323F0DFF58}"/>
              </a:ext>
            </a:extLst>
          </p:cNvPr>
          <p:cNvSpPr>
            <a:spLocks noGrp="1"/>
          </p:cNvSpPr>
          <p:nvPr/>
        </p:nvSpPr>
        <p:spPr>
          <a:xfrm>
            <a:off x="5953125" y="4178163"/>
            <a:ext cx="323850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1AAF9D-33D7-4C0E-AEE6-0BA6A08D76F2}"/>
              </a:ext>
            </a:extLst>
          </p:cNvPr>
          <p:cNvSpPr>
            <a:spLocks noGrp="1"/>
          </p:cNvSpPr>
          <p:nvPr/>
        </p:nvSpPr>
        <p:spPr>
          <a:xfrm>
            <a:off x="6276975" y="3799385"/>
            <a:ext cx="2714625" cy="819150"/>
          </a:xfrm>
          <a:prstGeom prst="roundRect">
            <a:avLst>
              <a:gd name="adj" fmla="val 9302"/>
            </a:avLst>
          </a:prstGeom>
          <a:solidFill>
            <a:srgbClr val="FBEAEC"/>
          </a:solidFill>
          <a:ln w="9525">
            <a:solidFill>
              <a:srgbClr val="FBEA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76F3AF-DDA6-4B37-BF2F-25F43D6E93D1}"/>
              </a:ext>
            </a:extLst>
          </p:cNvPr>
          <p:cNvSpPr>
            <a:spLocks noGrp="1"/>
          </p:cNvSpPr>
          <p:nvPr/>
        </p:nvSpPr>
        <p:spPr>
          <a:xfrm>
            <a:off x="6391275" y="3835263"/>
            <a:ext cx="24860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COMMUNICATION POLICY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9B0C3D-9985-41FC-AA1A-576F32AE25FB}"/>
              </a:ext>
            </a:extLst>
          </p:cNvPr>
          <p:cNvSpPr>
            <a:spLocks noGrp="1"/>
          </p:cNvSpPr>
          <p:nvPr/>
        </p:nvSpPr>
        <p:spPr>
          <a:xfrm>
            <a:off x="6391275" y="4111488"/>
            <a:ext cx="2486025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Approved, risky and prohibited language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E7548D-C1B7-4687-8705-54CB5ED97F50}"/>
              </a:ext>
            </a:extLst>
          </p:cNvPr>
          <p:cNvSpPr>
            <a:spLocks noGrp="1"/>
          </p:cNvSpPr>
          <p:nvPr/>
        </p:nvSpPr>
        <p:spPr>
          <a:xfrm>
            <a:off x="8991600" y="3181350"/>
            <a:ext cx="419100" cy="38100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8D7CE0-2102-4BE4-9D96-EF28ED24C755}"/>
              </a:ext>
            </a:extLst>
          </p:cNvPr>
          <p:cNvSpPr>
            <a:spLocks noGrp="1"/>
          </p:cNvSpPr>
          <p:nvPr/>
        </p:nvSpPr>
        <p:spPr>
          <a:xfrm>
            <a:off x="9410700" y="2438400"/>
            <a:ext cx="2095500" cy="1485900"/>
          </a:xfrm>
          <a:prstGeom prst="roundRect">
            <a:avLst>
              <a:gd name="adj" fmla="val 5128"/>
            </a:avLst>
          </a:prstGeom>
          <a:solidFill>
            <a:srgbClr val="E3F5F2"/>
          </a:solidFill>
          <a:ln w="9525">
            <a:solidFill>
              <a:srgbClr val="E3F5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A52D56-30F6-4C54-8240-61852EBD61EE}"/>
              </a:ext>
            </a:extLst>
          </p:cNvPr>
          <p:cNvSpPr>
            <a:spLocks noGrp="1"/>
          </p:cNvSpPr>
          <p:nvPr/>
        </p:nvSpPr>
        <p:spPr>
          <a:xfrm>
            <a:off x="9525000" y="2505075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974" lnSpcReduction="10000"/>
          </a:bodyPr>
          <a:lstStyle/>
          <a:p>
            <a:pPr algn="ctr">
              <a:defRPr sz="142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ADAPTIVE REASONING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CF963B-9159-4E65-9CCB-7DC9D6ED2A93}"/>
              </a:ext>
            </a:extLst>
          </p:cNvPr>
          <p:cNvSpPr>
            <a:spLocks noGrp="1"/>
          </p:cNvSpPr>
          <p:nvPr/>
        </p:nvSpPr>
        <p:spPr>
          <a:xfrm>
            <a:off x="9525000" y="2781300"/>
            <a:ext cx="1866900" cy="1076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Fast handling for routine work</a:t>
            </a:r>
          </a:p>
          <a:p>
            <a:pPr algn="ctr">
              <a:defRPr sz="1125" b="0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B45"/>
                </a:solidFill>
                <a:latin typeface="Aptos"/>
                <a:ea typeface="Aptos"/>
                <a:cs typeface="Aptos"/>
              </a:rPr>
              <a:t>Deeper reasoning for complex work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3AC302-8CB9-47FF-901D-74BD17E5E3C6}"/>
              </a:ext>
            </a:extLst>
          </p:cNvPr>
          <p:cNvSpPr>
            <a:spLocks noGrp="1"/>
          </p:cNvSpPr>
          <p:nvPr/>
        </p:nvSpPr>
        <p:spPr>
          <a:xfrm flipH="1">
            <a:off x="7589022" y="4618535"/>
            <a:ext cx="45719" cy="431373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3928F1E-27B5-41A4-B989-36CE575BBC98}"/>
              </a:ext>
            </a:extLst>
          </p:cNvPr>
          <p:cNvSpPr>
            <a:spLocks noGrp="1"/>
          </p:cNvSpPr>
          <p:nvPr/>
        </p:nvSpPr>
        <p:spPr>
          <a:xfrm>
            <a:off x="5241823" y="5048250"/>
            <a:ext cx="4705350" cy="838200"/>
          </a:xfrm>
          <a:prstGeom prst="roundRect">
            <a:avLst>
              <a:gd name="adj" fmla="val 9091"/>
            </a:avLst>
          </a:prstGeom>
          <a:solidFill>
            <a:srgbClr val="142B45"/>
          </a:solidFill>
          <a:ln w="9525">
            <a:solidFill>
              <a:srgbClr val="142B4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9D2F94-DBAD-4D51-AF71-294C1513A9BC}"/>
              </a:ext>
            </a:extLst>
          </p:cNvPr>
          <p:cNvSpPr>
            <a:spLocks noGrp="1"/>
          </p:cNvSpPr>
          <p:nvPr/>
        </p:nvSpPr>
        <p:spPr>
          <a:xfrm>
            <a:off x="666750" y="6181725"/>
            <a:ext cx="108394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ctr">
              <a:defRPr sz="1200" b="0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88A"/>
                </a:solidFill>
                <a:latin typeface="Aptos"/>
                <a:ea typeface="Aptos"/>
                <a:cs typeface="Aptos"/>
              </a:rPr>
              <a:t>Specialists remain bounded. The application owns the final response and approval boundaries.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686BF1E-59A9-8E26-1E39-36A2BF3C0A4A}"/>
              </a:ext>
            </a:extLst>
          </p:cNvPr>
          <p:cNvSpPr>
            <a:spLocks noGrp="1"/>
          </p:cNvSpPr>
          <p:nvPr/>
        </p:nvSpPr>
        <p:spPr>
          <a:xfrm>
            <a:off x="5385941" y="5115963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GUARDRAILS AND EVIDENCE CHECK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8278B6-AB50-B39A-AF28-72A5DC704307}"/>
              </a:ext>
            </a:extLst>
          </p:cNvPr>
          <p:cNvSpPr>
            <a:spLocks noGrp="1"/>
          </p:cNvSpPr>
          <p:nvPr/>
        </p:nvSpPr>
        <p:spPr>
          <a:xfrm>
            <a:off x="5385941" y="5392188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333"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Unsupported claims are removed, qualified or escalated before the response reaches the user.</a:t>
            </a:r>
          </a:p>
        </p:txBody>
      </p:sp>
    </p:spTree>
    <p:extLst>
      <p:ext uri="{BB962C8B-B14F-4D97-AF65-F5344CB8AC3E}">
        <p14:creationId xmlns:p14="http://schemas.microsoft.com/office/powerpoint/2010/main" val="115947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B30BD63-4AB8-40A0-801F-05B165C39CA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Business value of controlled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76D90D-A68A-492C-9412-ED5B96F33C8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291497-AB2F-4687-A7C8-4D920DEEB818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972800" cy="28575"/>
          </a:xfrm>
          <a:prstGeom prst="rect">
            <a:avLst/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1E10D7-908B-4A46-A40F-D630641C7728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The investment creates reusable decision logic and specialist behavior around the model. Those controls improve trust, usability and readiness for regulated workflows.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17CBC5-20FD-4661-AD14-5F9B314DEE55}"/>
              </a:ext>
            </a:extLst>
          </p:cNvPr>
          <p:cNvSpPr>
            <a:spLocks noGrp="1"/>
          </p:cNvSpPr>
          <p:nvPr/>
        </p:nvSpPr>
        <p:spPr>
          <a:xfrm>
            <a:off x="742950" y="19716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l">
              <a:defRPr sz="1125" b="1">
                <a:solidFill>
                  <a:srgbClr val="6B55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5C5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7DC0D6-6F54-45FA-B348-49C90967A98B}"/>
              </a:ext>
            </a:extLst>
          </p:cNvPr>
          <p:cNvSpPr>
            <a:spLocks noGrp="1"/>
          </p:cNvSpPr>
          <p:nvPr/>
        </p:nvSpPr>
        <p:spPr>
          <a:xfrm>
            <a:off x="3714750" y="1971675"/>
            <a:ext cx="3429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l">
              <a:defRPr sz="1125" b="1">
                <a:solidFill>
                  <a:srgbClr val="6B55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5C5"/>
                </a:solidFill>
                <a:latin typeface="Aptos"/>
                <a:ea typeface="Aptos"/>
                <a:cs typeface="Aptos"/>
              </a:rPr>
              <a:t>WHAT IT 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8771A6-8BC7-4576-9503-39033C4341E5}"/>
              </a:ext>
            </a:extLst>
          </p:cNvPr>
          <p:cNvSpPr>
            <a:spLocks noGrp="1"/>
          </p:cNvSpPr>
          <p:nvPr/>
        </p:nvSpPr>
        <p:spPr>
          <a:xfrm>
            <a:off x="7810500" y="1971675"/>
            <a:ext cx="3429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l">
              <a:defRPr sz="1125" b="1">
                <a:solidFill>
                  <a:srgbClr val="6B55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5C5"/>
                </a:solidFill>
                <a:latin typeface="Aptos"/>
                <a:ea typeface="Aptos"/>
                <a:cs typeface="Aptos"/>
              </a:rPr>
              <a:t>STAKEHOLDER VALUE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A2E4B-53BA-47DE-BB4D-E3582F5759A0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2874D0"/>
          </a:solidFill>
          <a:ln w="9525">
            <a:solidFill>
              <a:srgbClr val="2874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C213CD-BE15-4CA4-A238-17D9FEE43A99}"/>
              </a:ext>
            </a:extLst>
          </p:cNvPr>
          <p:cNvSpPr>
            <a:spLocks noGrp="1"/>
          </p:cNvSpPr>
          <p:nvPr/>
        </p:nvSpPr>
        <p:spPr>
          <a:xfrm>
            <a:off x="981075" y="23431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Evidence grounding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9B3CED-F742-43DF-90CA-20FAD52EBF01}"/>
              </a:ext>
            </a:extLst>
          </p:cNvPr>
          <p:cNvSpPr>
            <a:spLocks noGrp="1"/>
          </p:cNvSpPr>
          <p:nvPr/>
        </p:nvSpPr>
        <p:spPr>
          <a:xfrm>
            <a:off x="3714750" y="23431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Claims stay connected to authoritative sources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44CDE3-3C25-4F45-8D91-1CD8CFB9056F}"/>
              </a:ext>
            </a:extLst>
          </p:cNvPr>
          <p:cNvSpPr>
            <a:spLocks noGrp="1"/>
          </p:cNvSpPr>
          <p:nvPr/>
        </p:nvSpPr>
        <p:spPr>
          <a:xfrm>
            <a:off x="7810500" y="2343150"/>
            <a:ext cx="3476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Higher confidence and transparent answers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4C33E-A0C6-4760-A84F-44FC7F0A01D5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10534650" cy="9525"/>
          </a:xfrm>
          <a:prstGeom prst="rect">
            <a:avLst/>
          </a:prstGeom>
          <a:solidFill>
            <a:srgbClr val="C7D2DE"/>
          </a:solidFill>
          <a:ln w="9525">
            <a:solidFill>
              <a:srgbClr val="C7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85B90D-786F-495B-A734-02481B01EFD9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C98218"/>
          </a:solidFill>
          <a:ln w="9525">
            <a:solidFill>
              <a:srgbClr val="C982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C678E1-CC4D-41C0-B999-3CCAEAFE0DAF}"/>
              </a:ext>
            </a:extLst>
          </p:cNvPr>
          <p:cNvSpPr>
            <a:spLocks noGrp="1"/>
          </p:cNvSpPr>
          <p:nvPr/>
        </p:nvSpPr>
        <p:spPr>
          <a:xfrm>
            <a:off x="981075" y="29908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Specialist agents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C503E-8951-4880-B8A5-E87394D00689}"/>
              </a:ext>
            </a:extLst>
          </p:cNvPr>
          <p:cNvSpPr>
            <a:spLocks noGrp="1"/>
          </p:cNvSpPr>
          <p:nvPr/>
        </p:nvSpPr>
        <p:spPr>
          <a:xfrm>
            <a:off x="3714750" y="29908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Domain guidance uses focused instructions and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EB0C57-3942-4282-A0BB-DA0C1345FC2D}"/>
              </a:ext>
            </a:extLst>
          </p:cNvPr>
          <p:cNvSpPr>
            <a:spLocks noGrp="1"/>
          </p:cNvSpPr>
          <p:nvPr/>
        </p:nvSpPr>
        <p:spPr>
          <a:xfrm>
            <a:off x="7810500" y="2990850"/>
            <a:ext cx="3476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More useful answers in sensitive conversations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243163-7725-4369-86B3-C76A417EA8E2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534650" cy="9525"/>
          </a:xfrm>
          <a:prstGeom prst="rect">
            <a:avLst/>
          </a:prstGeom>
          <a:solidFill>
            <a:srgbClr val="C7D2DE"/>
          </a:solidFill>
          <a:ln w="9525">
            <a:solidFill>
              <a:srgbClr val="C7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E27CD1-4CDF-48D0-8CAA-00F5FAE20F17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744DA6-C3CC-4E10-8EB7-1D32E97CF880}"/>
              </a:ext>
            </a:extLst>
          </p:cNvPr>
          <p:cNvSpPr>
            <a:spLocks noGrp="1"/>
          </p:cNvSpPr>
          <p:nvPr/>
        </p:nvSpPr>
        <p:spPr>
          <a:xfrm>
            <a:off x="981075" y="36385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Orchestration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86CBA5-05FB-4AD3-8B83-9767C7A37FFB}"/>
              </a:ext>
            </a:extLst>
          </p:cNvPr>
          <p:cNvSpPr>
            <a:spLocks noGrp="1"/>
          </p:cNvSpPr>
          <p:nvPr/>
        </p:nvSpPr>
        <p:spPr>
          <a:xfrm>
            <a:off x="3714750" y="36385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The system selects the right capability for each request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D6EF24-6131-41BB-9194-AF7453A3F06F}"/>
              </a:ext>
            </a:extLst>
          </p:cNvPr>
          <p:cNvSpPr>
            <a:spLocks noGrp="1"/>
          </p:cNvSpPr>
          <p:nvPr/>
        </p:nvSpPr>
        <p:spPr>
          <a:xfrm>
            <a:off x="7810500" y="3638550"/>
            <a:ext cx="3476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Consistent experience with efficient model use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6DFFC4-27AB-4E4C-A1E6-54E09D112A0C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10534650" cy="9525"/>
          </a:xfrm>
          <a:prstGeom prst="rect">
            <a:avLst/>
          </a:prstGeom>
          <a:solidFill>
            <a:srgbClr val="C7D2DE"/>
          </a:solidFill>
          <a:ln w="9525">
            <a:solidFill>
              <a:srgbClr val="C7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7BF0F2B-FDF4-4CBD-AFD0-AC417972DCA7}"/>
              </a:ext>
            </a:extLst>
          </p:cNvPr>
          <p:cNvSpPr>
            <a:spLocks noGrp="1"/>
          </p:cNvSpPr>
          <p:nvPr/>
        </p:nvSpPr>
        <p:spPr>
          <a:xfrm>
            <a:off x="742950" y="440055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B84450"/>
          </a:solidFill>
          <a:ln w="9525">
            <a:solidFill>
              <a:srgbClr val="B844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54BAA3-8076-4766-AD08-ED0D7E32DFCA}"/>
              </a:ext>
            </a:extLst>
          </p:cNvPr>
          <p:cNvSpPr>
            <a:spLocks noGrp="1"/>
          </p:cNvSpPr>
          <p:nvPr/>
        </p:nvSpPr>
        <p:spPr>
          <a:xfrm>
            <a:off x="981075" y="42862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Guardrails and escalation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10430F-1F9E-41A9-A626-A5AA11C82EB2}"/>
              </a:ext>
            </a:extLst>
          </p:cNvPr>
          <p:cNvSpPr>
            <a:spLocks noGrp="1"/>
          </p:cNvSpPr>
          <p:nvPr/>
        </p:nvSpPr>
        <p:spPr>
          <a:xfrm>
            <a:off x="3714750" y="42862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The system blocks unsupported or risky responses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2999EA-87FF-42DD-A1CD-3A3EB47CDB25}"/>
              </a:ext>
            </a:extLst>
          </p:cNvPr>
          <p:cNvSpPr>
            <a:spLocks noGrp="1"/>
          </p:cNvSpPr>
          <p:nvPr/>
        </p:nvSpPr>
        <p:spPr>
          <a:xfrm>
            <a:off x="7810500" y="4286250"/>
            <a:ext cx="3476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Reduced compliance and reputation exposure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71C513-A71D-4F8C-A17F-89AD49197649}"/>
              </a:ext>
            </a:extLst>
          </p:cNvPr>
          <p:cNvSpPr>
            <a:spLocks noGrp="1"/>
          </p:cNvSpPr>
          <p:nvPr/>
        </p:nvSpPr>
        <p:spPr>
          <a:xfrm>
            <a:off x="742950" y="4914900"/>
            <a:ext cx="10534650" cy="9525"/>
          </a:xfrm>
          <a:prstGeom prst="rect">
            <a:avLst/>
          </a:prstGeom>
          <a:solidFill>
            <a:srgbClr val="C7D2DE"/>
          </a:solidFill>
          <a:ln w="9525">
            <a:solidFill>
              <a:srgbClr val="C7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B362DF9-A81D-4D10-AB22-5C1989D30CD3}"/>
              </a:ext>
            </a:extLst>
          </p:cNvPr>
          <p:cNvSpPr>
            <a:spLocks noGrp="1"/>
          </p:cNvSpPr>
          <p:nvPr/>
        </p:nvSpPr>
        <p:spPr>
          <a:xfrm>
            <a:off x="742950" y="504825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118A83"/>
          </a:solidFill>
          <a:ln w="9525">
            <a:solidFill>
              <a:srgbClr val="118A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FCCB71-CD27-49CB-AE7A-D9F925CF41DA}"/>
              </a:ext>
            </a:extLst>
          </p:cNvPr>
          <p:cNvSpPr>
            <a:spLocks noGrp="1"/>
          </p:cNvSpPr>
          <p:nvPr/>
        </p:nvSpPr>
        <p:spPr>
          <a:xfrm>
            <a:off x="981075" y="49339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Structured workflows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9F2EC5-40E8-4283-A19E-491BF5278AFA}"/>
              </a:ext>
            </a:extLst>
          </p:cNvPr>
          <p:cNvSpPr>
            <a:spLocks noGrp="1"/>
          </p:cNvSpPr>
          <p:nvPr/>
        </p:nvSpPr>
        <p:spPr>
          <a:xfrm>
            <a:off x="3714750" y="49339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63B5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B50"/>
                </a:solidFill>
                <a:latin typeface="Aptos"/>
                <a:ea typeface="Aptos"/>
                <a:cs typeface="Aptos"/>
              </a:rPr>
              <a:t>Responses can gather facts and propose controlled actions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A2062F-2E1B-448A-9AEB-83409ECA6272}"/>
              </a:ext>
            </a:extLst>
          </p:cNvPr>
          <p:cNvSpPr>
            <a:spLocks noGrp="1"/>
          </p:cNvSpPr>
          <p:nvPr/>
        </p:nvSpPr>
        <p:spPr>
          <a:xfrm>
            <a:off x="7810500" y="4933950"/>
            <a:ext cx="3476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42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B45"/>
                </a:solidFill>
                <a:latin typeface="Aptos"/>
                <a:ea typeface="Aptos"/>
                <a:cs typeface="Aptos"/>
              </a:rPr>
              <a:t>A foundation for service, document and approval journeys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09C335D-57FD-486F-88F0-8080D83CE788}"/>
              </a:ext>
            </a:extLst>
          </p:cNvPr>
          <p:cNvSpPr>
            <a:spLocks noGrp="1"/>
          </p:cNvSpPr>
          <p:nvPr/>
        </p:nvSpPr>
        <p:spPr>
          <a:xfrm>
            <a:off x="742950" y="5781675"/>
            <a:ext cx="10534650" cy="609600"/>
          </a:xfrm>
          <a:prstGeom prst="roundRect">
            <a:avLst>
              <a:gd name="adj" fmla="val 12500"/>
            </a:avLst>
          </a:prstGeom>
          <a:solidFill>
            <a:srgbClr val="6B55C5"/>
          </a:solidFill>
          <a:ln w="9525">
            <a:solidFill>
              <a:srgbClr val="6B55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67E7AC-0E95-43DF-9C59-ECCEC8555ECF}"/>
              </a:ext>
            </a:extLst>
          </p:cNvPr>
          <p:cNvSpPr>
            <a:spLocks noGrp="1"/>
          </p:cNvSpPr>
          <p:nvPr/>
        </p:nvSpPr>
        <p:spPr>
          <a:xfrm>
            <a:off x="914400" y="59245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EEE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EAFB"/>
                </a:solidFill>
                <a:latin typeface="Aptos"/>
                <a:ea typeface="Aptos"/>
                <a:cs typeface="Aptos"/>
              </a:rPr>
              <a:t>What the organization is funding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B83422-FC44-4ECB-BEE9-92FAD60603A3}"/>
              </a:ext>
            </a:extLst>
          </p:cNvPr>
          <p:cNvSpPr>
            <a:spLocks noGrp="1"/>
          </p:cNvSpPr>
          <p:nvPr/>
        </p:nvSpPr>
        <p:spPr>
          <a:xfrm>
            <a:off x="3886200" y="5848350"/>
            <a:ext cx="7096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126" lnSpcReduction="20000"/>
          </a:bodyPr>
          <a:lstStyle/>
          <a:p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governed AI capability that can evolve with product rules, policy changes and new workflows.</a:t>
            </a:r>
          </a:p>
        </p:txBody>
      </p:sp>
    </p:spTree>
    <p:extLst>
      <p:ext uri="{BB962C8B-B14F-4D97-AF65-F5344CB8AC3E}">
        <p14:creationId xmlns:p14="http://schemas.microsoft.com/office/powerpoint/2010/main" val="11819487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DocSecurity>0</DocSecurity>
  <PresentationFormat>Widescreen</PresentationFormat>
  <Paragraphs>71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George Hassan</cp:lastModifiedBy>
  <cp:revision>1</cp:revision>
  <dcterms:created xsi:type="dcterms:W3CDTF">2026-10-06T15:14:12Z</dcterms:created>
  <dcterms:modified xsi:type="dcterms:W3CDTF">2026-10-06T15:23:46Z</dcterms:modified>
</cp:coreProperties>
</file>